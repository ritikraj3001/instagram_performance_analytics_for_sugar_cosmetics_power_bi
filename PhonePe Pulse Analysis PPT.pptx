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F3635-FF9D-A24C-365C-B8712BEA06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D921ED-6991-27F0-3337-F8CF7E8551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D8F9091-4C9E-F994-63B7-3316C4106DFD}"/>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5" name="Footer Placeholder 4">
            <a:extLst>
              <a:ext uri="{FF2B5EF4-FFF2-40B4-BE49-F238E27FC236}">
                <a16:creationId xmlns:a16="http://schemas.microsoft.com/office/drawing/2014/main" id="{08722498-559F-2B0A-5948-7C81683ABF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8F12C-F296-F320-FE78-AF171F68B83F}"/>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472340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B45A-F82D-8F03-0DE5-7CA10E180D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BEF61E-2149-361C-867E-2B4ED08342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D3274E-67F3-E8FB-38D2-AD32D20CAC8C}"/>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5" name="Footer Placeholder 4">
            <a:extLst>
              <a:ext uri="{FF2B5EF4-FFF2-40B4-BE49-F238E27FC236}">
                <a16:creationId xmlns:a16="http://schemas.microsoft.com/office/drawing/2014/main" id="{47742FD6-EF75-1C6C-0403-026F483E6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B9E8B8-20A8-A9FE-753E-684416A216D8}"/>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3495478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1F3F-EACB-DEF5-21BA-3E7D94DF1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590032-3DEC-5551-6AB1-A8948FCE5C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606EFE-C6CF-308E-54ED-67E96E80D72B}"/>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5" name="Footer Placeholder 4">
            <a:extLst>
              <a:ext uri="{FF2B5EF4-FFF2-40B4-BE49-F238E27FC236}">
                <a16:creationId xmlns:a16="http://schemas.microsoft.com/office/drawing/2014/main" id="{9E5D1BA3-7337-97D3-5B6A-66B628130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F959B-BFFB-CB77-4D15-A6EDC7A14D0E}"/>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1123880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3A0D-53FD-87A9-FD0F-F8266982AC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A12B98-B0B6-DB57-AD16-4791FBF75D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80BE66-B349-6287-9DED-23760843E5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DCB020-F294-800B-7B5B-3D9BBC7CC70F}"/>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6" name="Footer Placeholder 5">
            <a:extLst>
              <a:ext uri="{FF2B5EF4-FFF2-40B4-BE49-F238E27FC236}">
                <a16:creationId xmlns:a16="http://schemas.microsoft.com/office/drawing/2014/main" id="{8A98ABC0-5EC3-186A-38CB-9119B97BF6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18099-D3AC-DB8C-5F52-F59209A085EA}"/>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2445398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5E91-2542-04C9-4061-1ACA44DD18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015941-3082-AD3B-C6CB-681AC65F04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174231-55D4-EADF-A531-4414D1D651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7352A-573E-6688-9430-20EC47CD8F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B215BA-C6DE-F4B6-E00B-38EE1FC57D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5552FB-6D2E-2B3D-B909-1A0D41A4856C}"/>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8" name="Footer Placeholder 7">
            <a:extLst>
              <a:ext uri="{FF2B5EF4-FFF2-40B4-BE49-F238E27FC236}">
                <a16:creationId xmlns:a16="http://schemas.microsoft.com/office/drawing/2014/main" id="{3B4EE752-0CD6-02E7-24E8-07B2CECF76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0630E7-EDCB-764F-CC0D-CA2BB72C98D9}"/>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279925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6A53-43C6-513F-B897-24411C7B5E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3E8B14-FA25-4D84-5735-3492AFF6183A}"/>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4" name="Footer Placeholder 3">
            <a:extLst>
              <a:ext uri="{FF2B5EF4-FFF2-40B4-BE49-F238E27FC236}">
                <a16:creationId xmlns:a16="http://schemas.microsoft.com/office/drawing/2014/main" id="{47AE4BBD-1829-54B8-3275-3FB17AB16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5E2296-685F-F1BF-7EBC-6F4811C5636A}"/>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158129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5CED02-ACF1-1BCE-6F89-7C9F45ACF7B4}"/>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3" name="Footer Placeholder 2">
            <a:extLst>
              <a:ext uri="{FF2B5EF4-FFF2-40B4-BE49-F238E27FC236}">
                <a16:creationId xmlns:a16="http://schemas.microsoft.com/office/drawing/2014/main" id="{A1A2C537-E2B8-CC0F-1BD2-0539DBF16A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3D468B-1E25-34D4-7B2D-965C33A6F9F6}"/>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3521333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A9C9-795D-A2C5-C151-663233E9A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8C5EF6-9952-47BD-DAC1-F49DE00E2D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48BFCC-6388-14A5-52F9-C5D19DE338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BC5D73-B182-F1A9-DA24-7F840956BCEF}"/>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6" name="Footer Placeholder 5">
            <a:extLst>
              <a:ext uri="{FF2B5EF4-FFF2-40B4-BE49-F238E27FC236}">
                <a16:creationId xmlns:a16="http://schemas.microsoft.com/office/drawing/2014/main" id="{CBE40AEB-8667-E8AA-4607-4AB289E0AC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C18252-9434-C342-7EEC-AA14FFB29D10}"/>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384322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BBB30-0E1C-8640-89F9-C1CD420B85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E2EA31-D660-DF37-3A18-943C36CE04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FC4B27-4358-9A21-5173-5AF92E4B0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EC634E-C3B8-E87E-6764-FE34A9447F74}"/>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6" name="Footer Placeholder 5">
            <a:extLst>
              <a:ext uri="{FF2B5EF4-FFF2-40B4-BE49-F238E27FC236}">
                <a16:creationId xmlns:a16="http://schemas.microsoft.com/office/drawing/2014/main" id="{6BE02611-044D-BD53-2F14-C54FC8005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4C53AA-3522-4EEB-D993-74CD6DFE9172}"/>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1703955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8F7BD-61F4-6976-2B85-894E4C3C0A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59AB7B-3153-003C-FFD0-8FF86140FC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FE9F0-0766-CA80-3D42-7257477D2830}"/>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5" name="Footer Placeholder 4">
            <a:extLst>
              <a:ext uri="{FF2B5EF4-FFF2-40B4-BE49-F238E27FC236}">
                <a16:creationId xmlns:a16="http://schemas.microsoft.com/office/drawing/2014/main" id="{F1F2AB0B-997D-C516-159E-F14F242C7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D108F6-790B-3AEC-CCF5-7CD62D261CB2}"/>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143350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EFF732-0DA6-83F2-463E-AE226E6EFF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A716DE-3B6A-0222-DDD1-D8335B642C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B9E95-E8C4-8B1A-BC51-136EF53349DE}"/>
              </a:ext>
            </a:extLst>
          </p:cNvPr>
          <p:cNvSpPr>
            <a:spLocks noGrp="1"/>
          </p:cNvSpPr>
          <p:nvPr>
            <p:ph type="dt" sz="half" idx="10"/>
          </p:nvPr>
        </p:nvSpPr>
        <p:spPr/>
        <p:txBody>
          <a:bodyPr/>
          <a:lstStyle/>
          <a:p>
            <a:fld id="{CC6FBCC5-E55C-4B25-8B54-3AA8E83E7757}" type="datetimeFigureOut">
              <a:rPr lang="en-US" smtClean="0"/>
              <a:t>11/27/2025</a:t>
            </a:fld>
            <a:endParaRPr lang="en-US"/>
          </a:p>
        </p:txBody>
      </p:sp>
      <p:sp>
        <p:nvSpPr>
          <p:cNvPr id="5" name="Footer Placeholder 4">
            <a:extLst>
              <a:ext uri="{FF2B5EF4-FFF2-40B4-BE49-F238E27FC236}">
                <a16:creationId xmlns:a16="http://schemas.microsoft.com/office/drawing/2014/main" id="{C227AF44-2A08-A653-5CB8-AAAC9818D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81BA0-B646-3746-F94B-B33CF5BF232B}"/>
              </a:ext>
            </a:extLst>
          </p:cNvPr>
          <p:cNvSpPr>
            <a:spLocks noGrp="1"/>
          </p:cNvSpPr>
          <p:nvPr>
            <p:ph type="sldNum" sz="quarter" idx="12"/>
          </p:nvPr>
        </p:nvSpPr>
        <p:spPr/>
        <p:txBody>
          <a:bodyPr/>
          <a:lstStyle/>
          <a:p>
            <a:fld id="{B21CC62E-A215-49A2-BEDD-A96DD5AFFC52}" type="slidenum">
              <a:rPr lang="en-US" smtClean="0"/>
              <a:t>‹#›</a:t>
            </a:fld>
            <a:endParaRPr lang="en-US"/>
          </a:p>
        </p:txBody>
      </p:sp>
    </p:spTree>
    <p:extLst>
      <p:ext uri="{BB962C8B-B14F-4D97-AF65-F5344CB8AC3E}">
        <p14:creationId xmlns:p14="http://schemas.microsoft.com/office/powerpoint/2010/main" val="80540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9418C1-5A49-FCF8-2D6D-8DF1DD1982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767A17-4CC0-20FF-5AC4-5105D0244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A8331-AA5E-E088-B67A-E5974C2D2F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6FBCC5-E55C-4B25-8B54-3AA8E83E7757}" type="datetimeFigureOut">
              <a:rPr lang="en-US" smtClean="0"/>
              <a:t>11/27/2025</a:t>
            </a:fld>
            <a:endParaRPr lang="en-US"/>
          </a:p>
        </p:txBody>
      </p:sp>
      <p:sp>
        <p:nvSpPr>
          <p:cNvPr id="5" name="Footer Placeholder 4">
            <a:extLst>
              <a:ext uri="{FF2B5EF4-FFF2-40B4-BE49-F238E27FC236}">
                <a16:creationId xmlns:a16="http://schemas.microsoft.com/office/drawing/2014/main" id="{84C2DD2D-E789-BD88-43A7-86518D525C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6B7A89-1300-B72C-5FAC-7660FC520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CC62E-A215-49A2-BEDD-A96DD5AFFC52}" type="slidenum">
              <a:rPr lang="en-US" smtClean="0"/>
              <a:t>‹#›</a:t>
            </a:fld>
            <a:endParaRPr lang="en-US"/>
          </a:p>
        </p:txBody>
      </p:sp>
    </p:spTree>
    <p:extLst>
      <p:ext uri="{BB962C8B-B14F-4D97-AF65-F5344CB8AC3E}">
        <p14:creationId xmlns:p14="http://schemas.microsoft.com/office/powerpoint/2010/main" val="1004288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6F128-3E73-1F56-52A7-39727BD3EF1C}"/>
              </a:ext>
            </a:extLst>
          </p:cNvPr>
          <p:cNvSpPr>
            <a:spLocks noGrp="1"/>
          </p:cNvSpPr>
          <p:nvPr>
            <p:ph type="ctrTitle"/>
          </p:nvPr>
        </p:nvSpPr>
        <p:spPr>
          <a:xfrm>
            <a:off x="1520858" y="305013"/>
            <a:ext cx="9144000" cy="838412"/>
          </a:xfrm>
        </p:spPr>
        <p:txBody>
          <a:bodyPr>
            <a:normAutofit fontScale="90000"/>
          </a:bodyPr>
          <a:lstStyle/>
          <a:p>
            <a:r>
              <a:rPr lang="en-US" b="1" u="sng" dirty="0" err="1"/>
              <a:t>PhonePe</a:t>
            </a:r>
            <a:r>
              <a:rPr lang="en-US" b="1" u="sng" dirty="0"/>
              <a:t> Pulse Analysis</a:t>
            </a:r>
          </a:p>
        </p:txBody>
      </p:sp>
      <p:pic>
        <p:nvPicPr>
          <p:cNvPr id="5" name="Picture 4">
            <a:extLst>
              <a:ext uri="{FF2B5EF4-FFF2-40B4-BE49-F238E27FC236}">
                <a16:creationId xmlns:a16="http://schemas.microsoft.com/office/drawing/2014/main" id="{CA19A863-7FDF-54A0-47D6-04A751E842F6}"/>
              </a:ext>
            </a:extLst>
          </p:cNvPr>
          <p:cNvPicPr>
            <a:picLocks noChangeAspect="1"/>
          </p:cNvPicPr>
          <p:nvPr/>
        </p:nvPicPr>
        <p:blipFill>
          <a:blip r:embed="rId2"/>
          <a:stretch>
            <a:fillRect/>
          </a:stretch>
        </p:blipFill>
        <p:spPr>
          <a:xfrm>
            <a:off x="1649691" y="1443037"/>
            <a:ext cx="9332535" cy="5109950"/>
          </a:xfrm>
          <a:prstGeom prst="rect">
            <a:avLst/>
          </a:prstGeom>
        </p:spPr>
      </p:pic>
    </p:spTree>
    <p:extLst>
      <p:ext uri="{BB962C8B-B14F-4D97-AF65-F5344CB8AC3E}">
        <p14:creationId xmlns:p14="http://schemas.microsoft.com/office/powerpoint/2010/main" val="1203653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55D2-24B3-0E08-D205-5ECB39F1C569}"/>
              </a:ext>
            </a:extLst>
          </p:cNvPr>
          <p:cNvSpPr>
            <a:spLocks noGrp="1"/>
          </p:cNvSpPr>
          <p:nvPr>
            <p:ph type="title"/>
          </p:nvPr>
        </p:nvSpPr>
        <p:spPr/>
        <p:txBody>
          <a:bodyPr/>
          <a:lstStyle/>
          <a:p>
            <a:r>
              <a:rPr lang="en-US" b="1" dirty="0"/>
              <a:t>Problem Statements:</a:t>
            </a:r>
          </a:p>
        </p:txBody>
      </p:sp>
      <p:sp>
        <p:nvSpPr>
          <p:cNvPr id="3" name="Content Placeholder 2">
            <a:extLst>
              <a:ext uri="{FF2B5EF4-FFF2-40B4-BE49-F238E27FC236}">
                <a16:creationId xmlns:a16="http://schemas.microsoft.com/office/drawing/2014/main" id="{4923FE2F-9111-1E31-F877-7C18AA72F6CC}"/>
              </a:ext>
            </a:extLst>
          </p:cNvPr>
          <p:cNvSpPr>
            <a:spLocks noGrp="1"/>
          </p:cNvSpPr>
          <p:nvPr>
            <p:ph idx="1"/>
          </p:nvPr>
        </p:nvSpPr>
        <p:spPr>
          <a:xfrm>
            <a:off x="838199" y="1825625"/>
            <a:ext cx="10728489" cy="4351338"/>
          </a:xfrm>
        </p:spPr>
        <p:txBody>
          <a:bodyPr>
            <a:normAutofit/>
          </a:bodyPr>
          <a:lstStyle/>
          <a:p>
            <a:pPr marL="0" indent="0">
              <a:buNone/>
            </a:pPr>
            <a:r>
              <a:rPr lang="en-US" dirty="0"/>
              <a:t>The </a:t>
            </a:r>
            <a:r>
              <a:rPr lang="en-US" dirty="0" err="1"/>
              <a:t>Phonepe</a:t>
            </a:r>
            <a:r>
              <a:rPr lang="en-US" dirty="0"/>
              <a:t> pulse </a:t>
            </a:r>
            <a:r>
              <a:rPr lang="en-US" dirty="0" err="1"/>
              <a:t>Github</a:t>
            </a:r>
            <a:r>
              <a:rPr lang="en-US" dirty="0"/>
              <a:t> repository contains a large amount of data related to various metrics and statistics. The goal is process the data to obtain insight and information that can be visualized in a user-friendly manner. </a:t>
            </a:r>
          </a:p>
          <a:p>
            <a:pPr marL="0" indent="0">
              <a:buNone/>
            </a:pPr>
            <a:r>
              <a:rPr lang="en-US" b="1" dirty="0"/>
              <a:t>Following two process has been done and data is transformed as a valuable and the same data is given to you </a:t>
            </a:r>
          </a:p>
          <a:p>
            <a:pPr marL="514350" indent="-514350">
              <a:buAutoNum type="arabicParenR"/>
            </a:pPr>
            <a:r>
              <a:rPr lang="en-US" dirty="0"/>
              <a:t>Extracting the data from the </a:t>
            </a:r>
            <a:r>
              <a:rPr lang="en-US" dirty="0" err="1"/>
              <a:t>Phonepe</a:t>
            </a:r>
            <a:r>
              <a:rPr lang="en-US" dirty="0"/>
              <a:t> pulse </a:t>
            </a:r>
            <a:r>
              <a:rPr lang="en-US" dirty="0" err="1"/>
              <a:t>Github</a:t>
            </a:r>
            <a:r>
              <a:rPr lang="en-US" dirty="0"/>
              <a:t> repository through scripting and clone it. </a:t>
            </a:r>
          </a:p>
          <a:p>
            <a:pPr marL="514350" indent="-514350">
              <a:buAutoNum type="arabicParenR"/>
            </a:pPr>
            <a:r>
              <a:rPr lang="en-US" dirty="0"/>
              <a:t>2) Transforming the data into a suitable format and perform any necessary cleaning and pre-processing steps.</a:t>
            </a:r>
          </a:p>
        </p:txBody>
      </p:sp>
    </p:spTree>
    <p:extLst>
      <p:ext uri="{BB962C8B-B14F-4D97-AF65-F5344CB8AC3E}">
        <p14:creationId xmlns:p14="http://schemas.microsoft.com/office/powerpoint/2010/main" val="1888619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F9021F-A537-3BA3-0079-E3029E6EB998}"/>
              </a:ext>
            </a:extLst>
          </p:cNvPr>
          <p:cNvSpPr>
            <a:spLocks noGrp="1"/>
          </p:cNvSpPr>
          <p:nvPr>
            <p:ph idx="1"/>
          </p:nvPr>
        </p:nvSpPr>
        <p:spPr>
          <a:xfrm>
            <a:off x="838200" y="1206631"/>
            <a:ext cx="10515600" cy="4970332"/>
          </a:xfrm>
        </p:spPr>
        <p:txBody>
          <a:bodyPr/>
          <a:lstStyle/>
          <a:p>
            <a:r>
              <a:rPr lang="en-US" b="1" dirty="0"/>
              <a:t>The solution must include the following steps: </a:t>
            </a:r>
          </a:p>
          <a:p>
            <a:r>
              <a:rPr lang="en-US" dirty="0"/>
              <a:t>1) Create a live geo visualization dashboard using tableau or Power-BI in an interactive and visually appealing manner. </a:t>
            </a:r>
          </a:p>
          <a:p>
            <a:r>
              <a:rPr lang="en-US" dirty="0"/>
              <a:t>2) Provide at least 10 different dropdown options for users to select different facts and figures to display on the dashboard. </a:t>
            </a:r>
          </a:p>
          <a:p>
            <a:pPr marL="0" indent="0">
              <a:buNone/>
            </a:pPr>
            <a:endParaRPr lang="en-US" dirty="0"/>
          </a:p>
          <a:p>
            <a:pPr marL="0" indent="0">
              <a:buNone/>
            </a:pPr>
            <a:r>
              <a:rPr lang="en-US" b="1" dirty="0"/>
              <a:t>The solution must be secure, efficient, and user-friendly. The dashboard must be easily accessible and provide valuable insights and information about the data in the </a:t>
            </a:r>
            <a:r>
              <a:rPr lang="en-US" b="1" dirty="0" err="1"/>
              <a:t>Phonepe</a:t>
            </a:r>
            <a:r>
              <a:rPr lang="en-US" b="1" dirty="0"/>
              <a:t> pulse </a:t>
            </a:r>
            <a:r>
              <a:rPr lang="en-US" b="1" dirty="0" err="1"/>
              <a:t>Github</a:t>
            </a:r>
            <a:r>
              <a:rPr lang="en-US" b="1" dirty="0"/>
              <a:t> repository.</a:t>
            </a:r>
          </a:p>
        </p:txBody>
      </p:sp>
    </p:spTree>
    <p:extLst>
      <p:ext uri="{BB962C8B-B14F-4D97-AF65-F5344CB8AC3E}">
        <p14:creationId xmlns:p14="http://schemas.microsoft.com/office/powerpoint/2010/main" val="1119572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A243F-9015-3E79-2750-7B274FDA077E}"/>
              </a:ext>
            </a:extLst>
          </p:cNvPr>
          <p:cNvSpPr>
            <a:spLocks noGrp="1"/>
          </p:cNvSpPr>
          <p:nvPr>
            <p:ph type="title"/>
          </p:nvPr>
        </p:nvSpPr>
        <p:spPr/>
        <p:txBody>
          <a:bodyPr/>
          <a:lstStyle/>
          <a:p>
            <a:r>
              <a:rPr lang="en-US" b="1" dirty="0"/>
              <a:t>Approach:</a:t>
            </a:r>
          </a:p>
        </p:txBody>
      </p:sp>
      <p:sp>
        <p:nvSpPr>
          <p:cNvPr id="3" name="Content Placeholder 2">
            <a:extLst>
              <a:ext uri="{FF2B5EF4-FFF2-40B4-BE49-F238E27FC236}">
                <a16:creationId xmlns:a16="http://schemas.microsoft.com/office/drawing/2014/main" id="{1DD06462-025B-9105-340F-AEE42B18A444}"/>
              </a:ext>
            </a:extLst>
          </p:cNvPr>
          <p:cNvSpPr>
            <a:spLocks noGrp="1"/>
          </p:cNvSpPr>
          <p:nvPr>
            <p:ph idx="1"/>
          </p:nvPr>
        </p:nvSpPr>
        <p:spPr>
          <a:xfrm>
            <a:off x="838200" y="1555422"/>
            <a:ext cx="10515600" cy="4798243"/>
          </a:xfrm>
        </p:spPr>
        <p:txBody>
          <a:bodyPr/>
          <a:lstStyle/>
          <a:p>
            <a:r>
              <a:rPr lang="en-US" dirty="0"/>
              <a:t>1) Merge all the files that is obtained from the </a:t>
            </a:r>
            <a:r>
              <a:rPr lang="en-US" dirty="0" err="1"/>
              <a:t>phonepe</a:t>
            </a:r>
            <a:r>
              <a:rPr lang="en-US" dirty="0"/>
              <a:t> data which is already preprocessed and provided. </a:t>
            </a:r>
          </a:p>
          <a:p>
            <a:r>
              <a:rPr lang="en-US" dirty="0"/>
              <a:t>2) Choose your platform: Decide whether to use Tableau or Power BI. Both platforms are excellent for creating geo visualizations, and it comes down to personal preference and familiarity. </a:t>
            </a:r>
          </a:p>
          <a:p>
            <a:r>
              <a:rPr lang="en-US" dirty="0"/>
              <a:t>3) Import data: Import the </a:t>
            </a:r>
            <a:r>
              <a:rPr lang="en-US" dirty="0" err="1"/>
              <a:t>PhonePe</a:t>
            </a:r>
            <a:r>
              <a:rPr lang="en-US" dirty="0"/>
              <a:t> Pulse data into your chosen   platform. </a:t>
            </a:r>
          </a:p>
          <a:p>
            <a:r>
              <a:rPr lang="en-US" dirty="0"/>
              <a:t>4) Create a geo map: Create a basic geo map using your imported data. This will help you understand the distribution of your data and provide insights for more advanced visualizations.</a:t>
            </a:r>
          </a:p>
        </p:txBody>
      </p:sp>
    </p:spTree>
    <p:extLst>
      <p:ext uri="{BB962C8B-B14F-4D97-AF65-F5344CB8AC3E}">
        <p14:creationId xmlns:p14="http://schemas.microsoft.com/office/powerpoint/2010/main" val="146266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A62A25-F6E4-4EBB-017F-6D5952F4248F}"/>
              </a:ext>
            </a:extLst>
          </p:cNvPr>
          <p:cNvSpPr>
            <a:spLocks noGrp="1"/>
          </p:cNvSpPr>
          <p:nvPr>
            <p:ph idx="1"/>
          </p:nvPr>
        </p:nvSpPr>
        <p:spPr>
          <a:xfrm>
            <a:off x="838200" y="857250"/>
            <a:ext cx="10515600" cy="5319713"/>
          </a:xfrm>
        </p:spPr>
        <p:txBody>
          <a:bodyPr>
            <a:normAutofit fontScale="92500"/>
          </a:bodyPr>
          <a:lstStyle/>
          <a:p>
            <a:r>
              <a:rPr lang="en-US" dirty="0"/>
              <a:t>5) Add layers: Layer on additional information such as demographics, transaction value. This will help you to identify trends and draw insights. </a:t>
            </a:r>
          </a:p>
          <a:p>
            <a:r>
              <a:rPr lang="en-US" dirty="0"/>
              <a:t>6) Design your dashboard: Customize your dashboard layout to suit your objective and audience. Ensure that your visualizations are clear, concise and easy to interpret. </a:t>
            </a:r>
          </a:p>
          <a:p>
            <a:r>
              <a:rPr lang="en-US" dirty="0"/>
              <a:t>7) Provide at least 10 different dropdown options for users to select different facts and figures to display on the dashboard. </a:t>
            </a:r>
          </a:p>
          <a:p>
            <a:r>
              <a:rPr lang="en-US" dirty="0"/>
              <a:t>8) Create the growth rate and KPI to identify the trends and to track the success of business firms. </a:t>
            </a:r>
          </a:p>
          <a:p>
            <a:r>
              <a:rPr lang="en-US" dirty="0"/>
              <a:t>9) Analyze the visualization dashboards and provide insights from the visualizations. This approach leverages the use of Power-BI or Tableau to create a user-friendly dashboard for visualizing the insights obtained from the data.</a:t>
            </a:r>
          </a:p>
        </p:txBody>
      </p:sp>
    </p:spTree>
    <p:extLst>
      <p:ext uri="{BB962C8B-B14F-4D97-AF65-F5344CB8AC3E}">
        <p14:creationId xmlns:p14="http://schemas.microsoft.com/office/powerpoint/2010/main" val="1131369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9292-7AA6-CEFB-7A66-F56FA6042097}"/>
              </a:ext>
            </a:extLst>
          </p:cNvPr>
          <p:cNvSpPr>
            <a:spLocks noGrp="1"/>
          </p:cNvSpPr>
          <p:nvPr>
            <p:ph type="title"/>
          </p:nvPr>
        </p:nvSpPr>
        <p:spPr/>
        <p:txBody>
          <a:bodyPr/>
          <a:lstStyle/>
          <a:p>
            <a:r>
              <a:rPr lang="en-US" b="1" dirty="0"/>
              <a:t>Results:</a:t>
            </a:r>
          </a:p>
        </p:txBody>
      </p:sp>
      <p:sp>
        <p:nvSpPr>
          <p:cNvPr id="3" name="Content Placeholder 2">
            <a:extLst>
              <a:ext uri="{FF2B5EF4-FFF2-40B4-BE49-F238E27FC236}">
                <a16:creationId xmlns:a16="http://schemas.microsoft.com/office/drawing/2014/main" id="{6BCFF978-2C63-7C63-1167-DA7B6F149698}"/>
              </a:ext>
            </a:extLst>
          </p:cNvPr>
          <p:cNvSpPr>
            <a:spLocks noGrp="1"/>
          </p:cNvSpPr>
          <p:nvPr>
            <p:ph idx="1"/>
          </p:nvPr>
        </p:nvSpPr>
        <p:spPr/>
        <p:txBody>
          <a:bodyPr/>
          <a:lstStyle/>
          <a:p>
            <a:r>
              <a:rPr lang="en-US" dirty="0"/>
              <a:t>The result of this project will be a live </a:t>
            </a:r>
            <a:r>
              <a:rPr lang="en-US" dirty="0" err="1"/>
              <a:t>geovisualization</a:t>
            </a:r>
            <a:r>
              <a:rPr lang="en-US" dirty="0"/>
              <a:t> dashboard that displays information and insights from the </a:t>
            </a:r>
            <a:r>
              <a:rPr lang="en-US" dirty="0" err="1"/>
              <a:t>Phonepe</a:t>
            </a:r>
            <a:r>
              <a:rPr lang="en-US" dirty="0"/>
              <a:t> pulse </a:t>
            </a:r>
            <a:r>
              <a:rPr lang="en-US" dirty="0" err="1"/>
              <a:t>Github</a:t>
            </a:r>
            <a:r>
              <a:rPr lang="en-US" dirty="0"/>
              <a:t> repository in an interactive and visually appealing manner. The dashboard will have at least 10 different dropdown options for users to select different facts and figures to display. The dashboard will provide valuable insights and information about the data in the </a:t>
            </a:r>
            <a:r>
              <a:rPr lang="en-US" dirty="0" err="1"/>
              <a:t>Phonepe</a:t>
            </a:r>
            <a:r>
              <a:rPr lang="en-US" dirty="0"/>
              <a:t> pulse </a:t>
            </a:r>
            <a:r>
              <a:rPr lang="en-US" dirty="0" err="1"/>
              <a:t>Github</a:t>
            </a:r>
            <a:r>
              <a:rPr lang="en-US" dirty="0"/>
              <a:t> repository, making it a valuable tool for data analysis and decision-making. </a:t>
            </a:r>
          </a:p>
        </p:txBody>
      </p:sp>
    </p:spTree>
    <p:extLst>
      <p:ext uri="{BB962C8B-B14F-4D97-AF65-F5344CB8AC3E}">
        <p14:creationId xmlns:p14="http://schemas.microsoft.com/office/powerpoint/2010/main" val="4272543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C16-A668-B9B3-D8B0-EB02765D7BA2}"/>
              </a:ext>
            </a:extLst>
          </p:cNvPr>
          <p:cNvSpPr>
            <a:spLocks noGrp="1"/>
          </p:cNvSpPr>
          <p:nvPr>
            <p:ph type="title"/>
          </p:nvPr>
        </p:nvSpPr>
        <p:spPr/>
        <p:txBody>
          <a:bodyPr/>
          <a:lstStyle/>
          <a:p>
            <a:r>
              <a:rPr lang="en-US" b="1" u="sng" dirty="0"/>
              <a:t>Dataset:</a:t>
            </a:r>
          </a:p>
        </p:txBody>
      </p:sp>
      <p:pic>
        <p:nvPicPr>
          <p:cNvPr id="10" name="Picture 9">
            <a:extLst>
              <a:ext uri="{FF2B5EF4-FFF2-40B4-BE49-F238E27FC236}">
                <a16:creationId xmlns:a16="http://schemas.microsoft.com/office/drawing/2014/main" id="{9C3A36D5-45B0-7AA1-B769-5C2B19685B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34159"/>
            <a:ext cx="10165080" cy="4958715"/>
          </a:xfrm>
          <a:prstGeom prst="rect">
            <a:avLst/>
          </a:prstGeom>
        </p:spPr>
      </p:pic>
    </p:spTree>
    <p:extLst>
      <p:ext uri="{BB962C8B-B14F-4D97-AF65-F5344CB8AC3E}">
        <p14:creationId xmlns:p14="http://schemas.microsoft.com/office/powerpoint/2010/main" val="2274762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D359-5CF1-E5DF-5AC1-088AC5A5BDB5}"/>
              </a:ext>
            </a:extLst>
          </p:cNvPr>
          <p:cNvSpPr>
            <a:spLocks noGrp="1"/>
          </p:cNvSpPr>
          <p:nvPr>
            <p:ph type="title"/>
          </p:nvPr>
        </p:nvSpPr>
        <p:spPr/>
        <p:txBody>
          <a:bodyPr/>
          <a:lstStyle/>
          <a:p>
            <a:r>
              <a:rPr lang="en-US" b="1" u="sng" dirty="0" err="1"/>
              <a:t>PhonePe</a:t>
            </a:r>
            <a:r>
              <a:rPr lang="en-US" b="1" u="sng" dirty="0"/>
              <a:t> Dashboard:</a:t>
            </a:r>
          </a:p>
        </p:txBody>
      </p:sp>
      <p:pic>
        <p:nvPicPr>
          <p:cNvPr id="5" name="Content Placeholder 4">
            <a:extLst>
              <a:ext uri="{FF2B5EF4-FFF2-40B4-BE49-F238E27FC236}">
                <a16:creationId xmlns:a16="http://schemas.microsoft.com/office/drawing/2014/main" id="{27EB9A5A-855C-3C4D-1575-EFBC1C25AD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74800"/>
            <a:ext cx="9565640" cy="4714240"/>
          </a:xfrm>
        </p:spPr>
      </p:pic>
    </p:spTree>
    <p:extLst>
      <p:ext uri="{BB962C8B-B14F-4D97-AF65-F5344CB8AC3E}">
        <p14:creationId xmlns:p14="http://schemas.microsoft.com/office/powerpoint/2010/main" val="109820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C3CE-93CC-BE37-87E1-836D33FDF0B3}"/>
              </a:ext>
            </a:extLst>
          </p:cNvPr>
          <p:cNvSpPr>
            <a:spLocks noGrp="1"/>
          </p:cNvSpPr>
          <p:nvPr>
            <p:ph type="title"/>
          </p:nvPr>
        </p:nvSpPr>
        <p:spPr/>
        <p:txBody>
          <a:bodyPr/>
          <a:lstStyle/>
          <a:p>
            <a:r>
              <a:rPr lang="en-US" b="1" u="sng" dirty="0" err="1"/>
              <a:t>PhonePe</a:t>
            </a:r>
            <a:r>
              <a:rPr lang="en-US" b="1" u="sng" dirty="0"/>
              <a:t> Dashboard Insights:</a:t>
            </a:r>
          </a:p>
        </p:txBody>
      </p:sp>
      <p:sp>
        <p:nvSpPr>
          <p:cNvPr id="3" name="Content Placeholder 2">
            <a:extLst>
              <a:ext uri="{FF2B5EF4-FFF2-40B4-BE49-F238E27FC236}">
                <a16:creationId xmlns:a16="http://schemas.microsoft.com/office/drawing/2014/main" id="{78D5587F-B040-CF21-11D8-4051F076B37B}"/>
              </a:ext>
            </a:extLst>
          </p:cNvPr>
          <p:cNvSpPr>
            <a:spLocks noGrp="1"/>
          </p:cNvSpPr>
          <p:nvPr>
            <p:ph idx="1"/>
          </p:nvPr>
        </p:nvSpPr>
        <p:spPr>
          <a:xfrm>
            <a:off x="838200" y="1500505"/>
            <a:ext cx="10515600" cy="4351338"/>
          </a:xfrm>
        </p:spPr>
        <p:txBody>
          <a:bodyPr/>
          <a:lstStyle/>
          <a:p>
            <a:r>
              <a:rPr lang="en-US" b="1" dirty="0"/>
              <a:t>Key Insights from the </a:t>
            </a:r>
            <a:r>
              <a:rPr lang="en-US" b="1" dirty="0" err="1"/>
              <a:t>PhonePe</a:t>
            </a:r>
            <a:r>
              <a:rPr lang="en-US" b="1" dirty="0"/>
              <a:t> Pulse Dashboard</a:t>
            </a:r>
          </a:p>
          <a:p>
            <a:r>
              <a:rPr lang="en-US" b="1" dirty="0"/>
              <a:t>Strong Growth Across Years</a:t>
            </a:r>
          </a:p>
          <a:p>
            <a:r>
              <a:rPr lang="en-US" dirty="0"/>
              <a:t>The dashboard shows filters for </a:t>
            </a:r>
            <a:r>
              <a:rPr lang="en-US" b="1" dirty="0"/>
              <a:t>2018–2022</a:t>
            </a:r>
            <a:r>
              <a:rPr lang="en-US" dirty="0"/>
              <a:t>, and the pie (donut) chart indicates that </a:t>
            </a:r>
            <a:r>
              <a:rPr lang="en-US" b="1" dirty="0"/>
              <a:t>each year contributes almost equally (19–20%)</a:t>
            </a:r>
            <a:r>
              <a:rPr lang="en-US" dirty="0"/>
              <a:t>.</a:t>
            </a:r>
          </a:p>
          <a:p>
            <a:r>
              <a:rPr lang="en-US" dirty="0"/>
              <a:t>This suggests:</a:t>
            </a:r>
          </a:p>
          <a:p>
            <a:pPr lvl="1"/>
            <a:r>
              <a:rPr lang="en-US" b="1" dirty="0"/>
              <a:t>Consistent growth</a:t>
            </a:r>
            <a:r>
              <a:rPr lang="en-US" dirty="0"/>
              <a:t> in digital payments year over year.</a:t>
            </a:r>
          </a:p>
          <a:p>
            <a:pPr lvl="1"/>
            <a:r>
              <a:rPr lang="en-US" dirty="0"/>
              <a:t>No major dip in usage—indicating </a:t>
            </a:r>
            <a:r>
              <a:rPr lang="en-US" b="1" dirty="0"/>
              <a:t>steady adoption</a:t>
            </a:r>
            <a:r>
              <a:rPr lang="en-US" dirty="0"/>
              <a:t> of UPI across India.</a:t>
            </a:r>
          </a:p>
          <a:p>
            <a:pPr marL="0" indent="0">
              <a:buNone/>
            </a:pPr>
            <a:endParaRPr lang="en-US" b="1" dirty="0"/>
          </a:p>
        </p:txBody>
      </p:sp>
    </p:spTree>
    <p:extLst>
      <p:ext uri="{BB962C8B-B14F-4D97-AF65-F5344CB8AC3E}">
        <p14:creationId xmlns:p14="http://schemas.microsoft.com/office/powerpoint/2010/main" val="219655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D9141-4DCC-24FB-8F15-37DD039B39A0}"/>
              </a:ext>
            </a:extLst>
          </p:cNvPr>
          <p:cNvSpPr>
            <a:spLocks noGrp="1"/>
          </p:cNvSpPr>
          <p:nvPr>
            <p:ph idx="1"/>
          </p:nvPr>
        </p:nvSpPr>
        <p:spPr>
          <a:xfrm>
            <a:off x="838200" y="1073785"/>
            <a:ext cx="10515600" cy="4351338"/>
          </a:xfrm>
        </p:spPr>
        <p:txBody>
          <a:bodyPr/>
          <a:lstStyle/>
          <a:p>
            <a:r>
              <a:rPr lang="en-US" b="1" dirty="0"/>
              <a:t>Massive Total Transactions</a:t>
            </a:r>
          </a:p>
          <a:p>
            <a:r>
              <a:rPr lang="en-US" b="1" dirty="0"/>
              <a:t>₹121.41 Trillion</a:t>
            </a:r>
            <a:r>
              <a:rPr lang="en-US" dirty="0"/>
              <a:t> total amount transacted.</a:t>
            </a:r>
          </a:p>
          <a:p>
            <a:r>
              <a:rPr lang="en-US" b="1" dirty="0"/>
              <a:t>72 Billion</a:t>
            </a:r>
            <a:r>
              <a:rPr lang="en-US" dirty="0"/>
              <a:t> total transactions.</a:t>
            </a:r>
          </a:p>
          <a:p>
            <a:r>
              <a:rPr lang="en-US" dirty="0"/>
              <a:t>This highlights:</a:t>
            </a:r>
          </a:p>
          <a:p>
            <a:pPr lvl="1"/>
            <a:r>
              <a:rPr lang="en-US" dirty="0"/>
              <a:t>Extremely high engagement on </a:t>
            </a:r>
            <a:r>
              <a:rPr lang="en-US" dirty="0" err="1"/>
              <a:t>PhonePe</a:t>
            </a:r>
            <a:r>
              <a:rPr lang="en-US" dirty="0"/>
              <a:t>.</a:t>
            </a:r>
          </a:p>
          <a:p>
            <a:pPr lvl="1"/>
            <a:r>
              <a:rPr lang="en-US" dirty="0"/>
              <a:t>India’s rapid shift toward </a:t>
            </a:r>
            <a:r>
              <a:rPr lang="en-US" b="1" dirty="0"/>
              <a:t>cashless payments</a:t>
            </a:r>
            <a:r>
              <a:rPr lang="en-US" dirty="0"/>
              <a:t>.</a:t>
            </a:r>
          </a:p>
          <a:p>
            <a:pPr lvl="1"/>
            <a:r>
              <a:rPr lang="en-US" dirty="0"/>
              <a:t>Strong transaction density despite a relatively short timeframe (5 years).</a:t>
            </a:r>
          </a:p>
          <a:p>
            <a:endParaRPr lang="en-US" dirty="0"/>
          </a:p>
        </p:txBody>
      </p:sp>
    </p:spTree>
    <p:extLst>
      <p:ext uri="{BB962C8B-B14F-4D97-AF65-F5344CB8AC3E}">
        <p14:creationId xmlns:p14="http://schemas.microsoft.com/office/powerpoint/2010/main" val="1175036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BDEC12-BFFF-3C82-E86D-AE683B3613C5}"/>
              </a:ext>
            </a:extLst>
          </p:cNvPr>
          <p:cNvSpPr>
            <a:spLocks noGrp="1"/>
          </p:cNvSpPr>
          <p:nvPr>
            <p:ph idx="1"/>
          </p:nvPr>
        </p:nvSpPr>
        <p:spPr>
          <a:xfrm>
            <a:off x="838200" y="829945"/>
            <a:ext cx="10515600" cy="4737736"/>
          </a:xfrm>
        </p:spPr>
        <p:txBody>
          <a:bodyPr>
            <a:normAutofit fontScale="47500" lnSpcReduction="20000"/>
          </a:bodyPr>
          <a:lstStyle/>
          <a:p>
            <a:r>
              <a:rPr lang="en-US" sz="4400" b="1" dirty="0"/>
              <a:t>State-Wise Performance (Top Contributors)</a:t>
            </a:r>
          </a:p>
          <a:p>
            <a:r>
              <a:rPr lang="en-US" sz="4400" dirty="0"/>
              <a:t>The bar chart makes it clear that a few states dominate UPI usage:</a:t>
            </a:r>
          </a:p>
          <a:p>
            <a:r>
              <a:rPr lang="en-US" sz="4400" b="1" dirty="0"/>
              <a:t>Top Performing States by Transaction Amount:</a:t>
            </a:r>
          </a:p>
          <a:p>
            <a:r>
              <a:rPr lang="en-US" sz="4400" b="1" dirty="0"/>
              <a:t>Telangana</a:t>
            </a:r>
            <a:r>
              <a:rPr lang="en-US" sz="4400" dirty="0"/>
              <a:t> – highest transaction value</a:t>
            </a:r>
          </a:p>
          <a:p>
            <a:r>
              <a:rPr lang="en-US" sz="4400" b="1" dirty="0"/>
              <a:t>Maharashtra</a:t>
            </a:r>
            <a:endParaRPr lang="en-US" sz="4400" dirty="0"/>
          </a:p>
          <a:p>
            <a:r>
              <a:rPr lang="en-US" sz="4400" b="1" dirty="0"/>
              <a:t>Karnataka</a:t>
            </a:r>
            <a:endParaRPr lang="en-US" sz="4400" dirty="0"/>
          </a:p>
          <a:p>
            <a:r>
              <a:rPr lang="en-US" sz="4400" b="1" dirty="0"/>
              <a:t>Andhra Pradesh</a:t>
            </a:r>
            <a:endParaRPr lang="en-US" sz="4400" dirty="0"/>
          </a:p>
          <a:p>
            <a:r>
              <a:rPr lang="en-US" sz="4400" b="1" dirty="0"/>
              <a:t>Rajasthan</a:t>
            </a:r>
            <a:endParaRPr lang="en-US" sz="4400" dirty="0"/>
          </a:p>
          <a:p>
            <a:r>
              <a:rPr lang="en-US" sz="4400" b="1" dirty="0"/>
              <a:t>Observations:</a:t>
            </a:r>
            <a:endParaRPr lang="en-US" sz="4400" dirty="0"/>
          </a:p>
          <a:p>
            <a:r>
              <a:rPr lang="en-US" sz="4400" dirty="0"/>
              <a:t>Southern and Western states lead digital payment adoption.</a:t>
            </a:r>
          </a:p>
          <a:p>
            <a:r>
              <a:rPr lang="en-US" sz="4400" dirty="0"/>
              <a:t>Telangana’s top position suggests high digital literacy and strong urban transaction volume (Hyderabad influence).</a:t>
            </a:r>
          </a:p>
          <a:p>
            <a:r>
              <a:rPr lang="en-US" sz="4400" dirty="0"/>
              <a:t>Maharashtra and Karnataka follow, driven by large metro cities like Mumbai and Bengaluru.</a:t>
            </a:r>
          </a:p>
          <a:p>
            <a:endParaRPr lang="en-US" dirty="0"/>
          </a:p>
        </p:txBody>
      </p:sp>
    </p:spTree>
    <p:extLst>
      <p:ext uri="{BB962C8B-B14F-4D97-AF65-F5344CB8AC3E}">
        <p14:creationId xmlns:p14="http://schemas.microsoft.com/office/powerpoint/2010/main" val="129151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BB624-DA14-1220-E24B-4C646F16F606}"/>
              </a:ext>
            </a:extLst>
          </p:cNvPr>
          <p:cNvSpPr>
            <a:spLocks noGrp="1"/>
          </p:cNvSpPr>
          <p:nvPr>
            <p:ph type="title"/>
          </p:nvPr>
        </p:nvSpPr>
        <p:spPr/>
        <p:txBody>
          <a:bodyPr/>
          <a:lstStyle/>
          <a:p>
            <a:r>
              <a:rPr lang="en-US" b="1" u="sng" dirty="0"/>
              <a:t>Overall Summary:</a:t>
            </a:r>
            <a:br>
              <a:rPr lang="en-US" b="1" dirty="0"/>
            </a:br>
            <a:endParaRPr lang="en-US" dirty="0"/>
          </a:p>
        </p:txBody>
      </p:sp>
      <p:sp>
        <p:nvSpPr>
          <p:cNvPr id="5" name="Content Placeholder 4">
            <a:extLst>
              <a:ext uri="{FF2B5EF4-FFF2-40B4-BE49-F238E27FC236}">
                <a16:creationId xmlns:a16="http://schemas.microsoft.com/office/drawing/2014/main" id="{49FEA4EA-FCC7-29C5-56AF-D2F4A24A9EA2}"/>
              </a:ext>
            </a:extLst>
          </p:cNvPr>
          <p:cNvSpPr>
            <a:spLocks noGrp="1"/>
          </p:cNvSpPr>
          <p:nvPr>
            <p:ph idx="1"/>
          </p:nvPr>
        </p:nvSpPr>
        <p:spPr>
          <a:xfrm>
            <a:off x="838200" y="1358264"/>
            <a:ext cx="10515600" cy="4656455"/>
          </a:xfrm>
        </p:spPr>
        <p:txBody>
          <a:bodyPr/>
          <a:lstStyle/>
          <a:p>
            <a:pPr marL="0" indent="0">
              <a:buNone/>
            </a:pPr>
            <a:r>
              <a:rPr lang="en-US" b="1" dirty="0"/>
              <a:t>. Huge transaction volumes</a:t>
            </a:r>
            <a:r>
              <a:rPr lang="en-US" dirty="0"/>
              <a:t> (₹121T) and </a:t>
            </a:r>
            <a:r>
              <a:rPr lang="en-US" b="1" dirty="0"/>
              <a:t>72B transactions</a:t>
            </a:r>
            <a:r>
              <a:rPr lang="en-US" dirty="0"/>
              <a:t> show </a:t>
            </a:r>
            <a:r>
              <a:rPr lang="en-US" dirty="0" err="1"/>
              <a:t>PhonePe’s</a:t>
            </a:r>
            <a:r>
              <a:rPr lang="en-US" dirty="0"/>
              <a:t> leadership in the Indian UPI ecosystem.</a:t>
            </a:r>
          </a:p>
          <a:p>
            <a:r>
              <a:rPr lang="en-US" b="1" dirty="0"/>
              <a:t>South and West India</a:t>
            </a:r>
            <a:r>
              <a:rPr lang="en-US" dirty="0"/>
              <a:t> are the strongest contributors.</a:t>
            </a:r>
          </a:p>
          <a:p>
            <a:r>
              <a:rPr lang="en-US" b="1" dirty="0"/>
              <a:t>Even yearly distribution</a:t>
            </a:r>
            <a:r>
              <a:rPr lang="en-US" dirty="0"/>
              <a:t> reflects strong and steady adoption.</a:t>
            </a:r>
          </a:p>
          <a:p>
            <a:r>
              <a:rPr lang="en-US" b="1" dirty="0"/>
              <a:t>Geographic data shows mass adoption nationwide</a:t>
            </a:r>
            <a:r>
              <a:rPr lang="en-US" dirty="0"/>
              <a:t>, with urban clusters showing the highest density.</a:t>
            </a:r>
          </a:p>
          <a:p>
            <a:r>
              <a:rPr lang="en-US" b="1" dirty="0"/>
              <a:t>Opportunities for expansion</a:t>
            </a:r>
            <a:r>
              <a:rPr lang="en-US" dirty="0"/>
              <a:t> lie in Northeastern, Northern hill states, and parts of East India.</a:t>
            </a:r>
          </a:p>
          <a:p>
            <a:endParaRPr lang="en-US" dirty="0"/>
          </a:p>
        </p:txBody>
      </p:sp>
    </p:spTree>
    <p:extLst>
      <p:ext uri="{BB962C8B-B14F-4D97-AF65-F5344CB8AC3E}">
        <p14:creationId xmlns:p14="http://schemas.microsoft.com/office/powerpoint/2010/main" val="1952548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ECD335-FCA8-F269-3172-88829BC853D8}"/>
              </a:ext>
            </a:extLst>
          </p:cNvPr>
          <p:cNvSpPr>
            <a:spLocks noGrp="1"/>
          </p:cNvSpPr>
          <p:nvPr>
            <p:ph idx="1"/>
          </p:nvPr>
        </p:nvSpPr>
        <p:spPr/>
        <p:txBody>
          <a:bodyPr>
            <a:normAutofit/>
          </a:bodyPr>
          <a:lstStyle/>
          <a:p>
            <a:pPr marL="0" indent="0">
              <a:buNone/>
            </a:pPr>
            <a:r>
              <a:rPr lang="en-US" sz="10900" dirty="0">
                <a:solidFill>
                  <a:schemeClr val="accent6"/>
                </a:solidFill>
              </a:rPr>
              <a:t>Thank You</a:t>
            </a:r>
          </a:p>
        </p:txBody>
      </p:sp>
    </p:spTree>
    <p:extLst>
      <p:ext uri="{BB962C8B-B14F-4D97-AF65-F5344CB8AC3E}">
        <p14:creationId xmlns:p14="http://schemas.microsoft.com/office/powerpoint/2010/main" val="2709626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775</Words>
  <Application>Microsoft Office PowerPoint</Application>
  <PresentationFormat>Widescreen</PresentationFormat>
  <Paragraphs>58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PhonePe Pulse Analysis</vt:lpstr>
      <vt:lpstr>Problem Statements:</vt:lpstr>
      <vt:lpstr>PowerPoint Presentation</vt:lpstr>
      <vt:lpstr>Approach:</vt:lpstr>
      <vt:lpstr>PowerPoint Presentation</vt:lpstr>
      <vt:lpstr>Results:</vt:lpstr>
      <vt:lpstr>Dataset:</vt:lpstr>
      <vt:lpstr>PhonePe Dashboard:</vt:lpstr>
      <vt:lpstr>PhonePe Dashboard Insights:</vt:lpstr>
      <vt:lpstr>PowerPoint Presentation</vt:lpstr>
      <vt:lpstr>PowerPoint Presentation</vt:lpstr>
      <vt:lpstr>Overall Summary: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ritik raj</dc:creator>
  <cp:lastModifiedBy>ritik raj</cp:lastModifiedBy>
  <cp:revision>1</cp:revision>
  <dcterms:created xsi:type="dcterms:W3CDTF">2025-11-27T12:22:20Z</dcterms:created>
  <dcterms:modified xsi:type="dcterms:W3CDTF">2025-11-27T12:22:42Z</dcterms:modified>
</cp:coreProperties>
</file>